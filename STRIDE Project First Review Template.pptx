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703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70" r:id="rId6"/>
    <p:sldId id="276" r:id="rId7"/>
    <p:sldId id="260" r:id="rId8"/>
    <p:sldId id="277" r:id="rId9"/>
    <p:sldId id="271" r:id="rId10"/>
    <p:sldId id="261" r:id="rId11"/>
    <p:sldId id="273" r:id="rId12"/>
    <p:sldId id="274" r:id="rId13"/>
    <p:sldId id="275" r:id="rId14"/>
    <p:sldId id="267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Me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2256" autoAdjust="0"/>
  </p:normalViewPr>
  <p:slideViewPr>
    <p:cSldViewPr snapToGrid="0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2" name="Google Shape;382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3" name="Google Shape;383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4" name="Google Shape;384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5" name="Google Shape;385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6" name="Google Shape;386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4BCAEE84-9318-F607-A65D-3F27FE801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:notes">
            <a:extLst>
              <a:ext uri="{FF2B5EF4-FFF2-40B4-BE49-F238E27FC236}">
                <a16:creationId xmlns:a16="http://schemas.microsoft.com/office/drawing/2014/main" id="{8B18A85C-259C-8A8F-1E01-DA5224A70B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5:notes">
            <a:extLst>
              <a:ext uri="{FF2B5EF4-FFF2-40B4-BE49-F238E27FC236}">
                <a16:creationId xmlns:a16="http://schemas.microsoft.com/office/drawing/2014/main" id="{C811DDBE-8BB0-296A-F891-A05D6F1DFB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831295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792515C9-6F8D-1964-1A5D-AE635B874B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:notes">
            <a:extLst>
              <a:ext uri="{FF2B5EF4-FFF2-40B4-BE49-F238E27FC236}">
                <a16:creationId xmlns:a16="http://schemas.microsoft.com/office/drawing/2014/main" id="{31CDD41A-4E12-4077-4A90-DB7FBF6BAA3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5:notes">
            <a:extLst>
              <a:ext uri="{FF2B5EF4-FFF2-40B4-BE49-F238E27FC236}">
                <a16:creationId xmlns:a16="http://schemas.microsoft.com/office/drawing/2014/main" id="{5CDF0041-4F14-B0E7-FF02-940ACE21CC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29459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>
          <a:extLst>
            <a:ext uri="{FF2B5EF4-FFF2-40B4-BE49-F238E27FC236}">
              <a16:creationId xmlns:a16="http://schemas.microsoft.com/office/drawing/2014/main" id="{CA903A7A-9115-1C54-63C3-1951DB1B3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5:notes">
            <a:extLst>
              <a:ext uri="{FF2B5EF4-FFF2-40B4-BE49-F238E27FC236}">
                <a16:creationId xmlns:a16="http://schemas.microsoft.com/office/drawing/2014/main" id="{B8857FE0-8EFA-9A1C-A0D3-BDB6D1287A4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5:notes">
            <a:extLst>
              <a:ext uri="{FF2B5EF4-FFF2-40B4-BE49-F238E27FC236}">
                <a16:creationId xmlns:a16="http://schemas.microsoft.com/office/drawing/2014/main" id="{42A04C6F-A0FB-FBD6-48C6-B02A385723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475599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>
          <a:extLst>
            <a:ext uri="{FF2B5EF4-FFF2-40B4-BE49-F238E27FC236}">
              <a16:creationId xmlns:a16="http://schemas.microsoft.com/office/drawing/2014/main" id="{0FA37047-9F10-F1A0-FE7E-96E64A20FD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:notes">
            <a:extLst>
              <a:ext uri="{FF2B5EF4-FFF2-40B4-BE49-F238E27FC236}">
                <a16:creationId xmlns:a16="http://schemas.microsoft.com/office/drawing/2014/main" id="{A2B13A90-73AC-81AB-7A71-04B221D9C4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6:notes">
            <a:extLst>
              <a:ext uri="{FF2B5EF4-FFF2-40B4-BE49-F238E27FC236}">
                <a16:creationId xmlns:a16="http://schemas.microsoft.com/office/drawing/2014/main" id="{7A2182FF-AF0D-A36F-AF84-08E48CAEEA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340478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8">
          <a:extLst>
            <a:ext uri="{FF2B5EF4-FFF2-40B4-BE49-F238E27FC236}">
              <a16:creationId xmlns:a16="http://schemas.microsoft.com/office/drawing/2014/main" id="{4B477E8C-D58F-DAC3-CD07-1F649B6FB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9" name="Google Shape;649;p6:notes">
            <a:extLst>
              <a:ext uri="{FF2B5EF4-FFF2-40B4-BE49-F238E27FC236}">
                <a16:creationId xmlns:a16="http://schemas.microsoft.com/office/drawing/2014/main" id="{5A48AC49-F79A-1180-D5B7-0DB0C39522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6:notes">
            <a:extLst>
              <a:ext uri="{FF2B5EF4-FFF2-40B4-BE49-F238E27FC236}">
                <a16:creationId xmlns:a16="http://schemas.microsoft.com/office/drawing/2014/main" id="{8907881E-0032-8915-E83F-5A9F79BC5E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6122786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7" name="Google Shape;687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0C205-F1EF-E9CE-E111-45021E9AB0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E5791-0D21-7D41-9892-CFFB9722D9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C74EA-9F8A-DE47-D941-36C776E13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F96E02-456E-4F1D-A73E-CCA654785520}" type="datetime1">
              <a:rPr lang="en-US" smtClean="0"/>
              <a:t>12/14/2025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87AE9-8204-C62F-1D98-D9517BA31A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BATCH #: [ECE/A2], AY: 2024-25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B23219-F20F-0590-2BA5-65EAE7553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4048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2E400-398E-1AFF-37B2-7AC310087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D296D-40DC-F33F-0EDE-CED7C9D142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FED71-CB60-0444-D157-55496DCAD3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30BF-CECC-4EB9-987E-F8492FCEC844}" type="datetime1">
              <a:rPr lang="en-US" smtClean="0"/>
              <a:t>12/14/2025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44B350-317B-DF7D-6D76-965056362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BATCH #: [ECE/A2], AY: 2024-25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313A19-469A-6CB4-D19C-43A9E755C8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8339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30F49-9397-6153-424E-1BC914310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0364B5-EB41-CF51-5C72-FDE91FE4FD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4F4339-52E2-E46D-6E6B-CC45FD790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AC774-8BE4-4E73-9454-F0E6C1AA7E41}" type="datetime1">
              <a:rPr lang="en-US" smtClean="0"/>
              <a:t>12/14/2025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600B71-92E1-F62B-972C-F2AD85F52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BATCH #: [ECE/A2], AY: 2024-25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02A379-3F4A-98F9-DF95-26E6875C4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1643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07691B-5DA4-90E4-62B8-EA38936FF8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721FF-1BE2-FB70-044D-D77C3552FC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9A847D-DCDE-FA10-E7A0-86D2339896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04A57E-15D7-02D4-85A4-CED7D16AE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3571E-EC8B-4BEE-BEAA-240A420AC67F}" type="datetime1">
              <a:rPr lang="en-US" smtClean="0"/>
              <a:t>12/14/2025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24DE14-3507-0ED1-F7B8-65A8F3BFE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BATCH #: [ECE/A2], AY: 2024-25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55D2BA-6136-9811-C0C6-E164FD2C3D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2995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6D60B-D1D6-7B92-209B-B29AD03029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48D85A-340D-8D56-890D-5A28F1ED9D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92267CC-0670-1519-2902-4B185F3D74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528611-15B9-8A85-EAD1-E65DF7071C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AE9556-E0BE-48ED-F9F5-E94D2D150B3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F43CEC5-5F3C-F43A-97A1-10AC37BD7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588C2-1D0C-4D38-B79F-D313EEDE4B47}" type="datetime1">
              <a:rPr lang="en-US" smtClean="0"/>
              <a:t>12/14/2025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8E575A-59B1-8D4B-3CA8-FB2C1EB49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BATCH #: [ECE/A2], AY: 2024-25</a:t>
            </a:r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FB33C6-4A2A-0A54-533E-6A0C434E4C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9546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0ED13-4C95-62F2-87CA-042C037FE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D5C694-58F3-38A2-59D0-AD5B20BBC3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1691BA-6ADF-4709-883B-73E5873D4DA6}" type="datetime1">
              <a:rPr lang="en-US" smtClean="0"/>
              <a:t>12/14/2025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CEB0477-694E-D52E-2338-EFAACF1C2F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BATCH #: [ECE/A2], AY: 2024-25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C97C1B-6FD9-D825-7551-C96C1896EC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892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BAE915D-0BA2-BABA-4681-5D7B8BB3DE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8F7D-1C38-48C4-929B-15BFC079509D}" type="datetime1">
              <a:rPr lang="en-US" smtClean="0"/>
              <a:t>12/14/2025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A6976C-579C-F06C-03F0-F3245775D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BATCH #: [ECE/A2], AY: 2024-25</a:t>
            </a:r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3F65FC-8115-F628-BFCA-BD6D1F51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879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21EE6E-AC2A-74D8-3FB1-4AD98F5FCE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22C16-1C4F-D83C-9FF5-4029F5D68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A02341-BBDE-6363-C7F5-A52334A765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503A9-0F6D-303A-6A69-3D5986D6E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A67DCC-E997-456A-88ED-9779B3E172E4}" type="datetime1">
              <a:rPr lang="en-US" smtClean="0"/>
              <a:t>12/14/2025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FA5AC-09C0-B0B9-8A47-B1D882693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BATCH #: [ECE/A2], AY: 2024-25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C3EE05-CA50-4E6E-C8BD-33B6B6909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620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E93A9-BE50-5F2D-3F28-813C2798F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DE1AC3-CEE2-AF8F-9EE4-EC680369D6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D1CB33-3503-E0D8-978E-C58660863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1A6832-FA61-8CA0-DBBD-95F6D6A9C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C45C7-69B3-40E4-B42C-7673765C98AE}" type="datetime1">
              <a:rPr lang="en-US" smtClean="0"/>
              <a:t>12/14/2025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BC580DE-E904-CE7E-9AE1-6A26ACC15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BATCH #: [ECE/A2], AY: 2024-25</a:t>
            </a:r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F2917F6-47BF-4F33-7F96-B726CE991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46241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8C93D1-5DDA-5F54-230E-5231EF919F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996757B-16C0-7CEB-AA24-CAC44F70D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FCBEF6-C556-D98E-6991-BC901D6AD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D1826-5D7E-4082-8B52-18E33CEFB044}" type="datetime1">
              <a:rPr lang="en-US" smtClean="0"/>
              <a:t>12/14/2025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79E5C8-A5A7-01EE-F32E-71E84AFBE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BATCH #: [ECE/A2], AY: 2024-25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AA56D4-0941-38CD-BE36-9DBBD3845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26421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CDF280-C85D-39D2-5684-278E7D3F619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562E8E-4D3F-89FB-F58A-4BB57F1846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777BD2-A9C0-8A96-71FE-02DE97686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B7FBBA-2D83-4A12-837F-4451EB12AB75}" type="datetime1">
              <a:rPr lang="en-US" smtClean="0"/>
              <a:t>12/14/2025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9C2AB-8A31-80D2-2032-4067A49FB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PROJECT BATCH #: [ECE/A2], AY: 2024-25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C34708-7A39-24BA-923A-1FF95219F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660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8351EEF-640E-F98E-F296-A693C7B2B0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0C943-3A32-6D6D-8371-A87C12F3ED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72279-C5FD-6E48-D63A-2F7DA92C53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EAF917-F876-414C-8DA1-E3D133400EF2}" type="datetime1">
              <a:rPr lang="en-US" smtClean="0"/>
              <a:t>12/14/2025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B81D7-E0CE-02D4-B404-551FA84102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PROJECT BATCH #: [ECE/A2], AY: 2024-25</a:t>
            </a:r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38AB8-8D0A-264A-0DBB-31AD6DF18C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63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4" r:id="rId1"/>
    <p:sldLayoutId id="2147483705" r:id="rId2"/>
    <p:sldLayoutId id="2147483706" r:id="rId3"/>
    <p:sldLayoutId id="2147483707" r:id="rId4"/>
    <p:sldLayoutId id="2147483708" r:id="rId5"/>
    <p:sldLayoutId id="2147483709" r:id="rId6"/>
    <p:sldLayoutId id="2147483710" r:id="rId7"/>
    <p:sldLayoutId id="2147483711" r:id="rId8"/>
    <p:sldLayoutId id="2147483712" r:id="rId9"/>
    <p:sldLayoutId id="2147483713" r:id="rId10"/>
    <p:sldLayoutId id="2147483714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4672F7-0F16-1D34-66D5-9AA0DDC04A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05" t="23350" r="75737" b="60985"/>
          <a:stretch/>
        </p:blipFill>
        <p:spPr bwMode="auto">
          <a:xfrm>
            <a:off x="0" y="3151600"/>
            <a:ext cx="1738784" cy="10592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16" name="Google Shape;616;p19"/>
          <p:cNvSpPr txBox="1">
            <a:spLocks noGrp="1"/>
          </p:cNvSpPr>
          <p:nvPr>
            <p:ph type="ctrTitle"/>
          </p:nvPr>
        </p:nvSpPr>
        <p:spPr>
          <a:xfrm>
            <a:off x="1616700" y="1749450"/>
            <a:ext cx="8958600" cy="1125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algn="ctr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3200" b="1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[STRIDE Project Title]</a:t>
            </a:r>
            <a:endParaRPr lang="en-IN" sz="32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</p:txBody>
      </p:sp>
      <p:sp>
        <p:nvSpPr>
          <p:cNvPr id="617" name="Google Shape;617;p19"/>
          <p:cNvSpPr txBox="1">
            <a:spLocks noGrp="1"/>
          </p:cNvSpPr>
          <p:nvPr>
            <p:ph type="subTitle" idx="1"/>
          </p:nvPr>
        </p:nvSpPr>
        <p:spPr>
          <a:xfrm>
            <a:off x="3628715" y="3681230"/>
            <a:ext cx="7146802" cy="272269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2400" dirty="0"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STRIDE PROJECT TEAM MEMBERS:</a:t>
            </a: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endParaRPr lang="en-US" sz="2400" dirty="0">
              <a:latin typeface="Times New Roman" panose="02020603050405020304" pitchFamily="18" charset="0"/>
              <a:ea typeface="Tahoma"/>
              <a:cs typeface="Times New Roman" panose="02020603050405020304" pitchFamily="18" charset="0"/>
              <a:sym typeface="Tahoma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22ME1A0405          Mr. XXXXXXXXXXX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900"/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22ME1A0408          Ms. TTTTTTTTTTTTT</a:t>
            </a:r>
            <a:endParaRPr lang="en-IN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Tahoma"/>
            </a:endParaRP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900"/>
              <a:buNone/>
            </a:pPr>
            <a:r>
              <a:rPr lang="en-IN" sz="240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22ME1A0430          Mr. VVVVVVVVVVVVV</a:t>
            </a:r>
          </a:p>
          <a:p>
            <a:pPr marL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1900"/>
              <a:buNone/>
            </a:pPr>
            <a:r>
              <a:rPr lang="en-US" sz="2400" dirty="0">
                <a:solidFill>
                  <a:schemeClr val="tx1"/>
                </a:solidFill>
                <a:latin typeface="Times New Roman" panose="02020603050405020304" pitchFamily="18" charset="0"/>
                <a:ea typeface="Tahoma"/>
                <a:cs typeface="Times New Roman" panose="02020603050405020304" pitchFamily="18" charset="0"/>
                <a:sym typeface="Tahoma"/>
              </a:rPr>
              <a:t>22ME1A0451          Ms. ZZZZZZZZZZZZ</a:t>
            </a:r>
            <a:endParaRPr sz="2400" dirty="0">
              <a:solidFill>
                <a:schemeClr val="tx1"/>
              </a:solidFill>
              <a:latin typeface="Times New Roman" panose="02020603050405020304" pitchFamily="18" charset="0"/>
              <a:ea typeface="Tahoma"/>
              <a:cs typeface="Times New Roman" panose="02020603050405020304" pitchFamily="18" charset="0"/>
              <a:sym typeface="Tahoma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8602" y="3016350"/>
            <a:ext cx="9477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Mentor: Dr./Prof./Mr./Ms. [Mentor’s Name]</a:t>
            </a:r>
            <a:endParaRPr lang="en-IN" sz="28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4F2795-4EFA-50C1-AF55-ECD0C58D22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BE42CB-EFA7-4A42-8D9E-D76629A48081}" type="datetime1">
              <a:rPr lang="en-US" smtClean="0"/>
              <a:t>12/14/2025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A661EC-CDD6-38DB-5DF2-973742E0D2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STRIDE PROJECT BATCH #: [ECE/A2], AY: 2025-26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3CF709-7240-DEF8-FBA2-75B6B1D33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pic>
        <p:nvPicPr>
          <p:cNvPr id="15" name="Picture 14" descr="A white and orange sign with blue and red text&#10;&#10;AI-generated content may be incorrect.">
            <a:extLst>
              <a:ext uri="{FF2B5EF4-FFF2-40B4-BE49-F238E27FC236}">
                <a16:creationId xmlns:a16="http://schemas.microsoft.com/office/drawing/2014/main" id="{FDB6FCAB-6499-F426-E7DD-0D511381E4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20175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20"/>
          <p:cNvSpPr txBox="1">
            <a:spLocks noGrp="1"/>
          </p:cNvSpPr>
          <p:nvPr>
            <p:ph type="title"/>
          </p:nvPr>
        </p:nvSpPr>
        <p:spPr>
          <a:xfrm>
            <a:off x="836612" y="10179"/>
            <a:ext cx="10515600" cy="59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Twentieth Century"/>
              <a:buNone/>
            </a:pPr>
            <a:r>
              <a:rPr lang="en-US" sz="3200" dirty="0">
                <a:latin typeface="Rockwell" panose="02060603020205020403" pitchFamily="18" charset="0"/>
              </a:rPr>
              <a:t>CONTENTS:</a:t>
            </a:r>
            <a:endParaRPr sz="3200" dirty="0">
              <a:latin typeface="Rockwell" panose="02060603020205020403" pitchFamily="18" charset="0"/>
            </a:endParaRPr>
          </a:p>
        </p:txBody>
      </p:sp>
      <p:sp>
        <p:nvSpPr>
          <p:cNvPr id="626" name="Google Shape;626;p20"/>
          <p:cNvSpPr txBox="1">
            <a:spLocks noGrp="1"/>
          </p:cNvSpPr>
          <p:nvPr>
            <p:ph idx="1"/>
          </p:nvPr>
        </p:nvSpPr>
        <p:spPr>
          <a:xfrm>
            <a:off x="1141412" y="701040"/>
            <a:ext cx="9906000" cy="544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400" dirty="0">
                <a:cs typeface="Times New Roman" panose="02020603050405020304" pitchFamily="18" charset="0"/>
              </a:rPr>
              <a:t>Problem Statement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400" kern="0" dirty="0">
                <a:ea typeface="Calibri" panose="020F0502020204030204" pitchFamily="34" charset="0"/>
                <a:cs typeface="Times New Roman" panose="02020603050405020304" pitchFamily="18" charset="0"/>
              </a:rPr>
              <a:t>Innovation and Uniqueness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400" dirty="0">
                <a:cs typeface="Times New Roman" panose="02020603050405020304" pitchFamily="18" charset="0"/>
              </a:rPr>
              <a:t>Literature Survey</a:t>
            </a:r>
            <a:endParaRPr lang="en-IN" sz="2400" kern="0" dirty="0"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Proposed Methodology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400" dirty="0">
                <a:cs typeface="Times New Roman" panose="02020603050405020304" pitchFamily="18" charset="0"/>
              </a:rPr>
              <a:t>System Architecture / Block Diagram</a:t>
            </a:r>
            <a:endParaRPr lang="en-IN" sz="2400" kern="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Expected Outcomes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400" kern="0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Work Plan / Timeline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400" dirty="0">
                <a:cs typeface="Times New Roman" panose="02020603050405020304" pitchFamily="18" charset="0"/>
              </a:rPr>
              <a:t>Resources &amp; Risk Assessment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400" dirty="0">
                <a:cs typeface="Times New Roman" panose="02020603050405020304" pitchFamily="18" charset="0"/>
              </a:rPr>
              <a:t>Team Roles and Responsibilities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IN" sz="2400" dirty="0">
                <a:cs typeface="Times New Roman" panose="02020603050405020304" pitchFamily="18" charset="0"/>
              </a:rPr>
              <a:t>Conclusion</a:t>
            </a:r>
            <a:b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</a:br>
            <a:endParaRPr sz="1250" dirty="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905C3D0-F41F-4BBF-B6E2-E012B3D2978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2666" r="88633" b="90002"/>
          <a:stretch/>
        </p:blipFill>
        <p:spPr>
          <a:xfrm>
            <a:off x="0" y="10178"/>
            <a:ext cx="449979" cy="599422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A7134FD-A71A-E327-3121-7DACFDBDBD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0BEC1-5D74-4362-8967-F94D7AF2BE04}" type="datetime1">
              <a:rPr lang="en-US" smtClean="0"/>
              <a:t>12/14/2025</a:t>
            </a:fld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F643EAF-BC04-950C-8ADB-72BE32164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STRIDE PROJECT BATCH #: [ECE/A2], AY: 2025-26</a:t>
            </a:r>
            <a:endParaRPr lang="en-IN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18E501F4-CD9A-9132-FF89-D0133B6FD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6D5246-C28F-CC0B-A55A-484D73994F1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05" t="23350" r="75737" b="60985"/>
          <a:stretch/>
        </p:blipFill>
        <p:spPr bwMode="auto">
          <a:xfrm>
            <a:off x="11208042" y="10179"/>
            <a:ext cx="983957" cy="5994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Google Shape;632;p21"/>
          <p:cNvSpPr txBox="1">
            <a:spLocks noGrp="1"/>
          </p:cNvSpPr>
          <p:nvPr>
            <p:ph type="title"/>
          </p:nvPr>
        </p:nvSpPr>
        <p:spPr>
          <a:xfrm>
            <a:off x="836613" y="10178"/>
            <a:ext cx="10515600" cy="60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lvl="0">
              <a:spcBef>
                <a:spcPts val="0"/>
              </a:spcBef>
              <a:buClr>
                <a:schemeClr val="lt1"/>
              </a:buClr>
              <a:buSzPts val="4400"/>
            </a:pPr>
            <a:r>
              <a:rPr lang="en-IN" sz="3200" b="1" dirty="0"/>
              <a:t>Problem Statement</a:t>
            </a:r>
            <a:r>
              <a:rPr lang="en-US" sz="3200" b="1" dirty="0">
                <a:latin typeface="Rockwell"/>
                <a:ea typeface="Rockwell"/>
                <a:cs typeface="Rockwell"/>
                <a:sym typeface="Rockwell"/>
              </a:rPr>
              <a:t>:</a:t>
            </a:r>
            <a:endParaRPr sz="3200" b="1" dirty="0"/>
          </a:p>
        </p:txBody>
      </p:sp>
      <p:sp>
        <p:nvSpPr>
          <p:cNvPr id="633" name="Google Shape;633;p21"/>
          <p:cNvSpPr txBox="1">
            <a:spLocks noGrp="1"/>
          </p:cNvSpPr>
          <p:nvPr>
            <p:ph idx="1"/>
          </p:nvPr>
        </p:nvSpPr>
        <p:spPr>
          <a:xfrm>
            <a:off x="1143000" y="794759"/>
            <a:ext cx="9906000" cy="5470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r>
              <a:rPr lang="en-US" sz="2400" dirty="0"/>
              <a:t>Brief description of the problem</a:t>
            </a:r>
          </a:p>
          <a:p>
            <a:r>
              <a:rPr lang="en-US" sz="2400" dirty="0"/>
              <a:t>Why it is important to solve</a:t>
            </a:r>
          </a:p>
          <a:p>
            <a:r>
              <a:rPr lang="en-US" sz="2400" dirty="0"/>
              <a:t>Relevance to real-world issues</a:t>
            </a: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endParaRPr lang="en-US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endParaRPr lang="en-IN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endParaRPr lang="en-IN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endParaRPr lang="en-IN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endParaRPr lang="en-IN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endParaRPr lang="en-IN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endParaRPr lang="en-IN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endParaRPr lang="en-IN"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endParaRPr sz="2400" dirty="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lvl="0" indent="0" algn="just" rtl="0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000"/>
              <a:buNone/>
            </a:pPr>
            <a:r>
              <a:rPr lang="en-US" sz="2400" dirty="0">
                <a:latin typeface="Times New Roman"/>
                <a:ea typeface="Times New Roman"/>
                <a:cs typeface="Times New Roman"/>
                <a:sym typeface="Times New Roman"/>
              </a:rPr>
              <a:t>Keywords:</a:t>
            </a:r>
            <a:endParaRPr sz="24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133CA4-0BC1-9731-2E9A-D8047E2B04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2666" r="88633" b="90002"/>
          <a:stretch/>
        </p:blipFill>
        <p:spPr>
          <a:xfrm>
            <a:off x="0" y="10178"/>
            <a:ext cx="449979" cy="59942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3CE2E4-3ABA-23E9-C51E-F22E5E0F2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A8DC97-9725-4D47-9EAB-4A894264BA80}" type="datetime1">
              <a:rPr lang="en-US" smtClean="0"/>
              <a:t>12/14/2025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232C4B-AC01-A30A-6A20-1D5CE10524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STRIDE PROJECT BATCH #: [ECE/A2], AY: 2025-26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B97C0-EC66-5BC4-460C-7BFC891A1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2A9210-2FAB-F032-9418-7B527471F1C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05" t="23350" r="75737" b="60985"/>
          <a:stretch/>
        </p:blipFill>
        <p:spPr bwMode="auto">
          <a:xfrm>
            <a:off x="11208042" y="10179"/>
            <a:ext cx="983957" cy="5994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22"/>
          <p:cNvSpPr txBox="1">
            <a:spLocks noGrp="1"/>
          </p:cNvSpPr>
          <p:nvPr>
            <p:ph type="title"/>
          </p:nvPr>
        </p:nvSpPr>
        <p:spPr>
          <a:xfrm>
            <a:off x="838200" y="49036"/>
            <a:ext cx="10515600" cy="5605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spcBef>
                <a:spcPts val="0"/>
              </a:spcBef>
              <a:buClr>
                <a:schemeClr val="lt1"/>
              </a:buClr>
              <a:buSzPts val="4400"/>
            </a:pPr>
            <a:r>
              <a:rPr lang="en-IN" sz="3200" dirty="0">
                <a:latin typeface="Rockwell"/>
              </a:rPr>
              <a:t>Objectives</a:t>
            </a:r>
          </a:p>
        </p:txBody>
      </p:sp>
      <p:sp>
        <p:nvSpPr>
          <p:cNvPr id="639" name="Google Shape;639;p22"/>
          <p:cNvSpPr txBox="1">
            <a:spLocks noGrp="1"/>
          </p:cNvSpPr>
          <p:nvPr>
            <p:ph idx="1"/>
          </p:nvPr>
        </p:nvSpPr>
        <p:spPr>
          <a:xfrm>
            <a:off x="1143000" y="648457"/>
            <a:ext cx="9906000" cy="5707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/>
              <a:t>Clear, measurable goals of the project</a:t>
            </a:r>
          </a:p>
          <a:p>
            <a:r>
              <a:rPr lang="en-US" sz="2400" dirty="0"/>
              <a:t>Short-term and long-term outcomes expected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58ED5DF-AA55-1B75-13E3-09FC38644CB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2666" r="88633" b="90002"/>
          <a:stretch/>
        </p:blipFill>
        <p:spPr>
          <a:xfrm>
            <a:off x="0" y="10178"/>
            <a:ext cx="449979" cy="59942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A7E4B-6136-7A7A-F63E-B229A5D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787F3-768A-4867-8E6E-C3F34B1D46F4}" type="datetime1">
              <a:rPr lang="en-US" smtClean="0"/>
              <a:t>12/14/2025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83383E-F60A-CFBD-E3A8-C965A126E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STRIDE PROJECT BATCH #: [ECE/A2], AY: 2025-26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4D77D1-EFB8-BD74-7BDA-EA450899B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C78E92-3E39-1C9A-F937-5AC93802D6E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05" t="23350" r="75737" b="60985"/>
          <a:stretch/>
        </p:blipFill>
        <p:spPr bwMode="auto">
          <a:xfrm>
            <a:off x="11208042" y="10179"/>
            <a:ext cx="983957" cy="5994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B54BA-18C9-2AB1-F1E9-E82468E89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Rockwell"/>
              </a:rPr>
              <a:t>Innovation and Uniqueness:</a:t>
            </a:r>
            <a:br>
              <a:rPr lang="en-US" dirty="0"/>
            </a:br>
            <a:r>
              <a:rPr lang="en-US" dirty="0"/>
              <a:t>(</a:t>
            </a:r>
            <a:r>
              <a:rPr lang="en-US" sz="2200" b="1" dirty="0"/>
              <a:t>Explain what makes your idea unique and how it differs from existing solutions; 50-100 words</a:t>
            </a:r>
            <a:r>
              <a:rPr lang="en-US" dirty="0"/>
              <a:t>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33D2DD-1B50-397C-7673-9BC02705EF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217"/>
            <a:ext cx="10515600" cy="4851746"/>
          </a:xfrm>
        </p:spPr>
        <p:txBody>
          <a:bodyPr/>
          <a:lstStyle/>
          <a:p>
            <a:r>
              <a:rPr lang="en-US" dirty="0"/>
              <a:t>What is new or different about this idea</a:t>
            </a:r>
          </a:p>
          <a:p>
            <a:r>
              <a:rPr lang="en-US" dirty="0"/>
              <a:t>Comparison with existing solutions (if any)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3E28E1-4C42-E4ED-0D6E-F76D3B237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30BF-CECC-4EB9-987E-F8492FCEC844}" type="datetime1">
              <a:rPr lang="en-US" smtClean="0"/>
              <a:t>12/14/2025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0537BA-B1F5-FB22-2617-06A2AB42E2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STRIDE PROJECT BATCH #: [ECE/A2], AY: 2025-26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FD01E-5239-B406-02A8-0338EA1072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FB903B7-7A18-A145-A10C-D70455F9992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2666" r="88633" b="90002"/>
          <a:stretch/>
        </p:blipFill>
        <p:spPr>
          <a:xfrm>
            <a:off x="0" y="10178"/>
            <a:ext cx="449979" cy="599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0A3110-35B7-AA5E-BFFA-AFC803BA09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05" t="23350" r="75737" b="60985"/>
          <a:stretch/>
        </p:blipFill>
        <p:spPr bwMode="auto">
          <a:xfrm>
            <a:off x="11208042" y="10179"/>
            <a:ext cx="983957" cy="5994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5436208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78E9B-F94A-4226-ED20-A09EB4E03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D0C8F-6AF2-EBC9-29F0-6BBAC11892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255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Rockwell"/>
              </a:rPr>
              <a:t>Literature Survey: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6994F3-847A-2E98-A347-B87493B0CC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217"/>
            <a:ext cx="10515600" cy="4851746"/>
          </a:xfrm>
        </p:spPr>
        <p:txBody>
          <a:bodyPr/>
          <a:lstStyle/>
          <a:p>
            <a:r>
              <a:rPr lang="en-US" dirty="0"/>
              <a:t>(</a:t>
            </a:r>
            <a:r>
              <a:rPr lang="en-IN" dirty="0"/>
              <a:t>Author, Year, Finding, Gap</a:t>
            </a:r>
            <a:r>
              <a:rPr lang="en-US" dirty="0"/>
              <a:t>)</a:t>
            </a:r>
          </a:p>
          <a:p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7C3355-BD0C-4AAE-754C-4FF37D43B1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0E30BF-CECC-4EB9-987E-F8492FCEC844}" type="datetime1">
              <a:rPr lang="en-US" smtClean="0"/>
              <a:t>12/14/2025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9C0E84-102C-D366-94C3-EF287C0BF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STRIDE PROJECT BATCH #: [ECE/A2], AY: 2025-26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D90A56-78B4-1F97-C2EB-29EF191FC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B430A6-A136-344C-B807-7AF25D388C1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2666" r="88633" b="90002"/>
          <a:stretch/>
        </p:blipFill>
        <p:spPr>
          <a:xfrm>
            <a:off x="0" y="10178"/>
            <a:ext cx="449979" cy="59942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C4A1843-4F37-9820-26CB-F3540DCE06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805" t="23350" r="75737" b="60985"/>
          <a:stretch/>
        </p:blipFill>
        <p:spPr bwMode="auto">
          <a:xfrm>
            <a:off x="11208042" y="10179"/>
            <a:ext cx="983957" cy="5994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8714298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3"/>
          <p:cNvSpPr txBox="1">
            <a:spLocks noGrp="1"/>
          </p:cNvSpPr>
          <p:nvPr>
            <p:ph type="title"/>
          </p:nvPr>
        </p:nvSpPr>
        <p:spPr>
          <a:xfrm>
            <a:off x="838200" y="10178"/>
            <a:ext cx="10339316" cy="59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ockwell"/>
              <a:buNone/>
            </a:pPr>
            <a:r>
              <a:rPr lang="en-US" sz="3200" dirty="0">
                <a:latin typeface="Rockwell"/>
                <a:ea typeface="Rockwell"/>
                <a:cs typeface="Rockwell"/>
                <a:sym typeface="Rockwell"/>
              </a:rPr>
              <a:t>Proposed Methodology</a:t>
            </a:r>
            <a:endParaRPr sz="3200" dirty="0"/>
          </a:p>
        </p:txBody>
      </p:sp>
      <p:sp>
        <p:nvSpPr>
          <p:cNvPr id="646" name="Google Shape;646;p23"/>
          <p:cNvSpPr txBox="1">
            <a:spLocks noGrp="1"/>
          </p:cNvSpPr>
          <p:nvPr>
            <p:ph sz="half" idx="1"/>
          </p:nvPr>
        </p:nvSpPr>
        <p:spPr>
          <a:xfrm>
            <a:off x="1141413" y="609600"/>
            <a:ext cx="10036103" cy="5793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IN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[A description of the approach that will be taken, including the technology or tools that will be used, the design, and the development plan]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FD212B2-8BAB-46BE-EEBF-19696AC15CA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2666" r="88633" b="90002"/>
          <a:stretch/>
        </p:blipFill>
        <p:spPr>
          <a:xfrm>
            <a:off x="0" y="10178"/>
            <a:ext cx="449979" cy="5994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4E064DC-7DC4-9137-6A37-1268DED19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91E1-FD16-4200-AC7F-3426D90EE64C}" type="datetime1">
              <a:rPr lang="en-US" smtClean="0"/>
              <a:t>12/14/2025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02D26FA-61DB-DAC7-51F5-8B071A73A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STRIDE PROJECT BATCH #: [ECE/A2], AY: 2025-26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07BE7D-212C-D089-B3DB-68CB7308D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D8FC71-BB03-97EB-15C1-C430FF1BE38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05" t="23350" r="75737" b="60985"/>
          <a:stretch/>
        </p:blipFill>
        <p:spPr bwMode="auto">
          <a:xfrm>
            <a:off x="11208042" y="10179"/>
            <a:ext cx="983957" cy="5994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697673-64E8-58B0-E8F6-7E3C98E26A68}"/>
              </a:ext>
            </a:extLst>
          </p:cNvPr>
          <p:cNvSpPr txBox="1"/>
          <p:nvPr/>
        </p:nvSpPr>
        <p:spPr>
          <a:xfrm>
            <a:off x="1141413" y="1838921"/>
            <a:ext cx="60974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Tools, technologies, or techniques to be used</a:t>
            </a:r>
          </a:p>
          <a:p>
            <a:r>
              <a:rPr lang="en-US" dirty="0"/>
              <a:t>• Step-by-step approach planned for implementation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BD827F01-D118-B77D-9EE1-FEC85ED97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3">
            <a:extLst>
              <a:ext uri="{FF2B5EF4-FFF2-40B4-BE49-F238E27FC236}">
                <a16:creationId xmlns:a16="http://schemas.microsoft.com/office/drawing/2014/main" id="{E56DA68F-2BA2-7895-3B90-1BF841138A8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0178"/>
            <a:ext cx="10339316" cy="59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ockwell"/>
              <a:buNone/>
            </a:pPr>
            <a:r>
              <a:rPr lang="en-US" sz="3200" dirty="0">
                <a:latin typeface="Rockwell"/>
                <a:ea typeface="Rockwell"/>
                <a:cs typeface="Rockwell"/>
                <a:sym typeface="Rockwell"/>
              </a:rPr>
              <a:t>System Architecture / Block Diagram</a:t>
            </a:r>
            <a:endParaRPr sz="3200" dirty="0"/>
          </a:p>
        </p:txBody>
      </p:sp>
      <p:sp>
        <p:nvSpPr>
          <p:cNvPr id="646" name="Google Shape;646;p23">
            <a:extLst>
              <a:ext uri="{FF2B5EF4-FFF2-40B4-BE49-F238E27FC236}">
                <a16:creationId xmlns:a16="http://schemas.microsoft.com/office/drawing/2014/main" id="{89EB0E40-3C31-AA97-3720-9DCA1B6EBAFB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1141413" y="609600"/>
            <a:ext cx="10036103" cy="5793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indent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F4B683E-C41B-D40C-56A6-31A2A753192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2666" r="88633" b="90002"/>
          <a:stretch/>
        </p:blipFill>
        <p:spPr>
          <a:xfrm>
            <a:off x="0" y="10178"/>
            <a:ext cx="449979" cy="5994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52A7A1F-39C2-919D-8DC5-C3BFC9BC4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91E1-FD16-4200-AC7F-3426D90EE64C}" type="datetime1">
              <a:rPr lang="en-US" smtClean="0"/>
              <a:t>12/14/2025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3AB00E20-A842-A3DC-15FE-036931731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STRIDE PROJECT BATCH #: [ECE/A2], AY: 2025-26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C79B9B5-90D8-8874-9DA6-BEB86D464C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92D6BE-4077-F824-2993-6EEDC2665DF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05" t="23350" r="75737" b="60985"/>
          <a:stretch/>
        </p:blipFill>
        <p:spPr bwMode="auto">
          <a:xfrm>
            <a:off x="11208042" y="10179"/>
            <a:ext cx="983957" cy="5994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0511388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2CA7CB6D-C992-9F69-B502-DCDC83E023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3">
            <a:extLst>
              <a:ext uri="{FF2B5EF4-FFF2-40B4-BE49-F238E27FC236}">
                <a16:creationId xmlns:a16="http://schemas.microsoft.com/office/drawing/2014/main" id="{0802BE33-E372-933A-9076-6613E01DDD3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0178"/>
            <a:ext cx="10339316" cy="59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ockwell"/>
              <a:buNone/>
            </a:pPr>
            <a:r>
              <a:rPr lang="en-US" sz="3200" dirty="0">
                <a:latin typeface="Rockwell"/>
                <a:ea typeface="Rockwell"/>
                <a:cs typeface="Rockwell"/>
                <a:sym typeface="Rockwell"/>
              </a:rPr>
              <a:t>Expected Outcomes</a:t>
            </a:r>
            <a:endParaRPr sz="3200" dirty="0"/>
          </a:p>
        </p:txBody>
      </p:sp>
      <p:sp>
        <p:nvSpPr>
          <p:cNvPr id="646" name="Google Shape;646;p23">
            <a:extLst>
              <a:ext uri="{FF2B5EF4-FFF2-40B4-BE49-F238E27FC236}">
                <a16:creationId xmlns:a16="http://schemas.microsoft.com/office/drawing/2014/main" id="{C14C3924-7D69-F9C0-8E4E-C5D6B8E0D0BB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1141413" y="609600"/>
            <a:ext cx="10036103" cy="5793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/>
              <a:t>What the team aims to achieve</a:t>
            </a:r>
          </a:p>
          <a:p>
            <a:r>
              <a:rPr lang="en-US" sz="2400" dirty="0"/>
              <a:t>Benefits or impact of the project</a:t>
            </a:r>
          </a:p>
          <a:p>
            <a:pPr marL="0" indent="0"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  <a:buNone/>
            </a:pP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A0AAC7-9E4D-46B9-4668-B3D1CFBC110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2666" r="88633" b="90002"/>
          <a:stretch/>
        </p:blipFill>
        <p:spPr>
          <a:xfrm>
            <a:off x="0" y="10178"/>
            <a:ext cx="449979" cy="5994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C096B03-9A54-A3C3-BB94-0101D44069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91E1-FD16-4200-AC7F-3426D90EE64C}" type="datetime1">
              <a:rPr lang="en-US" smtClean="0"/>
              <a:t>12/14/2025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A83F56E-63DE-BA62-9F84-5233459CE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STRIDE PROJECT BATCH #: [ECE/A2], AY: 2025-26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03EA9B2-B2B4-4384-9694-6F9BE49229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177D9BC-BF53-4719-E8C6-824BB033E0D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05" t="23350" r="75737" b="60985"/>
          <a:stretch/>
        </p:blipFill>
        <p:spPr bwMode="auto">
          <a:xfrm>
            <a:off x="11208042" y="10179"/>
            <a:ext cx="983957" cy="5994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6102279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4"/>
          <p:cNvSpPr txBox="1">
            <a:spLocks noGrp="1"/>
          </p:cNvSpPr>
          <p:nvPr>
            <p:ph type="title"/>
          </p:nvPr>
        </p:nvSpPr>
        <p:spPr>
          <a:xfrm>
            <a:off x="838200" y="1"/>
            <a:ext cx="1043485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ockwell"/>
              <a:buNone/>
            </a:pPr>
            <a:r>
              <a:rPr lang="en-US" sz="3200" dirty="0">
                <a:latin typeface="Rockwell"/>
                <a:ea typeface="Rockwell"/>
                <a:cs typeface="Rockwell"/>
                <a:sym typeface="Rockwell"/>
              </a:rPr>
              <a:t>Work Plan / Timeline</a:t>
            </a:r>
            <a:endParaRPr sz="3200" dirty="0">
              <a:solidFill>
                <a:schemeClr val="accent2"/>
              </a:solidFill>
            </a:endParaRPr>
          </a:p>
        </p:txBody>
      </p:sp>
      <p:sp>
        <p:nvSpPr>
          <p:cNvPr id="653" name="Google Shape;653;p24"/>
          <p:cNvSpPr txBox="1">
            <a:spLocks noGrp="1"/>
          </p:cNvSpPr>
          <p:nvPr>
            <p:ph idx="1"/>
          </p:nvPr>
        </p:nvSpPr>
        <p:spPr>
          <a:xfrm>
            <a:off x="838200" y="490330"/>
            <a:ext cx="10515600" cy="5869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Milestones and schedule</a:t>
            </a:r>
          </a:p>
          <a:p>
            <a:pPr>
              <a:lnSpc>
                <a:spcPct val="13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US" sz="24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Gautami" panose="020B0502040204020203" pitchFamily="34" charset="0"/>
              </a:rPr>
              <a:t>Phase-wise activities planned for the year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EEE60D0-A1FE-CDBF-8D83-27CDB1963D2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2666" r="88633" b="90002"/>
          <a:stretch/>
        </p:blipFill>
        <p:spPr>
          <a:xfrm>
            <a:off x="0" y="10178"/>
            <a:ext cx="449979" cy="59942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C12033-6111-D1A9-8484-1E0B57954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0907-03F9-44B1-92CD-562CBEBF0311}" type="datetime1">
              <a:rPr lang="en-US" smtClean="0"/>
              <a:t>12/14/2025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6ECCA2-1E5E-C174-4B63-11274E76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STRIDE PROJECT BATCH #: [ECE/A2], AY: 2025-26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0BD1F8-9674-D760-8072-969BD4B21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510D055-D0A9-00B8-34C7-567493A0AA50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05" t="23350" r="75737" b="60985"/>
          <a:stretch/>
        </p:blipFill>
        <p:spPr bwMode="auto">
          <a:xfrm>
            <a:off x="11208042" y="10179"/>
            <a:ext cx="983957" cy="5994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4">
          <a:extLst>
            <a:ext uri="{FF2B5EF4-FFF2-40B4-BE49-F238E27FC236}">
              <a16:creationId xmlns:a16="http://schemas.microsoft.com/office/drawing/2014/main" id="{459B11A9-D34A-5700-6DF1-3FE85CAD86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" name="Google Shape;645;p23">
            <a:extLst>
              <a:ext uri="{FF2B5EF4-FFF2-40B4-BE49-F238E27FC236}">
                <a16:creationId xmlns:a16="http://schemas.microsoft.com/office/drawing/2014/main" id="{A70DBBE3-DA6C-5F96-C070-EDF12C4551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0178"/>
            <a:ext cx="10339316" cy="5994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ockwell"/>
              <a:buNone/>
            </a:pPr>
            <a:r>
              <a:rPr lang="en-US" sz="3200" dirty="0">
                <a:latin typeface="Rockwell"/>
                <a:ea typeface="Rockwell"/>
                <a:cs typeface="Rockwell"/>
                <a:sym typeface="Rockwell"/>
              </a:rPr>
              <a:t>Resources &amp; Risk Assessment</a:t>
            </a:r>
            <a:endParaRPr sz="3200" dirty="0"/>
          </a:p>
        </p:txBody>
      </p:sp>
      <p:sp>
        <p:nvSpPr>
          <p:cNvPr id="646" name="Google Shape;646;p23">
            <a:extLst>
              <a:ext uri="{FF2B5EF4-FFF2-40B4-BE49-F238E27FC236}">
                <a16:creationId xmlns:a16="http://schemas.microsoft.com/office/drawing/2014/main" id="{E8755A79-F26D-A726-EA97-E04B8A2CCF92}"/>
              </a:ext>
            </a:extLst>
          </p:cNvPr>
          <p:cNvSpPr txBox="1">
            <a:spLocks noGrp="1"/>
          </p:cNvSpPr>
          <p:nvPr>
            <p:ph sz="half" idx="1"/>
          </p:nvPr>
        </p:nvSpPr>
        <p:spPr>
          <a:xfrm>
            <a:off x="1141413" y="609600"/>
            <a:ext cx="10036103" cy="57938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/>
              <a:t>Resources and equipment, etc.</a:t>
            </a:r>
          </a:p>
          <a:p>
            <a:r>
              <a:rPr lang="en-US" sz="2400" kern="1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Gautami" panose="020B0502040204020203" pitchFamily="34" charset="0"/>
              </a:rPr>
              <a:t>What are the potential risks (technical/schedule) and how will you mitigate them?"</a:t>
            </a:r>
            <a:endParaRPr lang="en-IN" sz="2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Gautami" panose="020B0502040204020203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A30EA90-9356-DC45-FC43-1A2EC6FDCF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2666" r="88633" b="90002"/>
          <a:stretch/>
        </p:blipFill>
        <p:spPr>
          <a:xfrm>
            <a:off x="0" y="10178"/>
            <a:ext cx="449979" cy="599422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6D58C1A-9285-6328-C9BC-EB3F1F654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2791E1-FD16-4200-AC7F-3426D90EE64C}" type="datetime1">
              <a:rPr lang="en-US" smtClean="0"/>
              <a:t>12/14/2025</a:t>
            </a:fld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57B35725-A95F-6AF6-F336-EAA13EE48D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STRIDE PROJECT BATCH #: [ECE/A2], AY: 2025-26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E60C5AC-71DD-CB35-2F1D-22568B5C8D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5D69BE-8823-C6C9-42E1-175E055FCFB9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05" t="23350" r="75737" b="60985"/>
          <a:stretch/>
        </p:blipFill>
        <p:spPr bwMode="auto">
          <a:xfrm>
            <a:off x="11208042" y="10179"/>
            <a:ext cx="983957" cy="5994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76287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>
          <a:extLst>
            <a:ext uri="{FF2B5EF4-FFF2-40B4-BE49-F238E27FC236}">
              <a16:creationId xmlns:a16="http://schemas.microsoft.com/office/drawing/2014/main" id="{6439D533-A119-56C3-FA3C-9F607FE2FF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4">
            <a:extLst>
              <a:ext uri="{FF2B5EF4-FFF2-40B4-BE49-F238E27FC236}">
                <a16:creationId xmlns:a16="http://schemas.microsoft.com/office/drawing/2014/main" id="{6322A370-1FD0-9940-D430-78324D0BB3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"/>
            <a:ext cx="1043485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ockwell"/>
              <a:buNone/>
            </a:pPr>
            <a:r>
              <a:rPr lang="en-US" sz="3200" dirty="0">
                <a:latin typeface="Rockwell"/>
                <a:ea typeface="Rockwell"/>
                <a:cs typeface="Rockwell"/>
                <a:sym typeface="Rockwell"/>
              </a:rPr>
              <a:t>Team Roles and Responsibilities</a:t>
            </a:r>
            <a:endParaRPr sz="3200" dirty="0">
              <a:solidFill>
                <a:schemeClr val="accent2"/>
              </a:solidFill>
            </a:endParaRPr>
          </a:p>
        </p:txBody>
      </p:sp>
      <p:sp>
        <p:nvSpPr>
          <p:cNvPr id="653" name="Google Shape;653;p24">
            <a:extLst>
              <a:ext uri="{FF2B5EF4-FFF2-40B4-BE49-F238E27FC236}">
                <a16:creationId xmlns:a16="http://schemas.microsoft.com/office/drawing/2014/main" id="{475E82F3-9D57-41A9-6022-057C55B30FD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490330"/>
            <a:ext cx="10515600" cy="5869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/>
              <a:t>Who will do what</a:t>
            </a:r>
          </a:p>
          <a:p>
            <a:r>
              <a:rPr lang="en-US" sz="2400" dirty="0"/>
              <a:t>Contribution of each team member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38A4D-CF04-3DF2-650C-5B03522705E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2666" r="88633" b="90002"/>
          <a:stretch/>
        </p:blipFill>
        <p:spPr>
          <a:xfrm>
            <a:off x="0" y="10178"/>
            <a:ext cx="449979" cy="59942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CC530D-C686-40F6-B72A-CDFE9D85AD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0907-03F9-44B1-92CD-562CBEBF0311}" type="datetime1">
              <a:rPr lang="en-US" smtClean="0"/>
              <a:t>12/14/2025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2A507A0-83A8-8984-5B82-2677FDFD0B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STRIDE PROJECT BATCH #: [ECE/A2], AY: 2025-26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B4D675-EE2F-A2F9-2CC9-E36C629BDF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1E217F-72CA-99F6-707D-914C635BFB3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05" t="23350" r="75737" b="60985"/>
          <a:stretch/>
        </p:blipFill>
        <p:spPr bwMode="auto">
          <a:xfrm>
            <a:off x="11208042" y="10179"/>
            <a:ext cx="983957" cy="5994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122255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1">
          <a:extLst>
            <a:ext uri="{FF2B5EF4-FFF2-40B4-BE49-F238E27FC236}">
              <a16:creationId xmlns:a16="http://schemas.microsoft.com/office/drawing/2014/main" id="{C2114DFD-300D-E65F-BDEA-CDE68B41E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24">
            <a:extLst>
              <a:ext uri="{FF2B5EF4-FFF2-40B4-BE49-F238E27FC236}">
                <a16:creationId xmlns:a16="http://schemas.microsoft.com/office/drawing/2014/main" id="{3CA315BE-E104-1915-87AC-999FE854B7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0" y="1"/>
            <a:ext cx="10434851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Rockwell"/>
              <a:buNone/>
            </a:pPr>
            <a:r>
              <a:rPr lang="en-US" sz="3200" dirty="0">
                <a:latin typeface="Rockwell"/>
                <a:ea typeface="Rockwell"/>
                <a:cs typeface="Rockwell"/>
                <a:sym typeface="Rockwell"/>
              </a:rPr>
              <a:t>Conclusion</a:t>
            </a:r>
            <a:endParaRPr sz="3200" dirty="0">
              <a:solidFill>
                <a:schemeClr val="accent2"/>
              </a:solidFill>
            </a:endParaRPr>
          </a:p>
        </p:txBody>
      </p:sp>
      <p:sp>
        <p:nvSpPr>
          <p:cNvPr id="653" name="Google Shape;653;p24">
            <a:extLst>
              <a:ext uri="{FF2B5EF4-FFF2-40B4-BE49-F238E27FC236}">
                <a16:creationId xmlns:a16="http://schemas.microsoft.com/office/drawing/2014/main" id="{DC735801-AA8E-B41C-0F48-210D4DECA76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0" y="490330"/>
            <a:ext cx="10515600" cy="5869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r>
              <a:rPr lang="en-US" sz="2400" dirty="0"/>
              <a:t>Summary of strengths of the project</a:t>
            </a:r>
          </a:p>
          <a:p>
            <a:r>
              <a:rPr lang="en-US" sz="2400" dirty="0"/>
              <a:t>Final remarks or future scope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4D5F07-0209-E678-CDE2-49643D2CCDA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2666" r="88633" b="90002"/>
          <a:stretch/>
        </p:blipFill>
        <p:spPr>
          <a:xfrm>
            <a:off x="0" y="10178"/>
            <a:ext cx="449979" cy="59942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0C4194-17CC-7CE6-4B0E-58E19B1301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00907-03F9-44B1-92CD-562CBEBF0311}" type="datetime1">
              <a:rPr lang="en-US" smtClean="0"/>
              <a:t>12/14/2025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C9C182-04A8-8912-34A1-6B9E3DECA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STRIDE PROJECT BATCH #: [ECE/A2], AY: 2025-26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E9048B-43E2-334E-A3E7-82326C206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43E200D-59AB-A632-4921-7DD0DB9D6EE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05" t="23350" r="75737" b="60985"/>
          <a:stretch/>
        </p:blipFill>
        <p:spPr bwMode="auto">
          <a:xfrm>
            <a:off x="11208042" y="10179"/>
            <a:ext cx="983957" cy="5994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3508560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977F941-9A57-E15F-B32A-B4C1FA6D36E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88" t="2666" r="88633" b="90002"/>
          <a:stretch/>
        </p:blipFill>
        <p:spPr>
          <a:xfrm>
            <a:off x="0" y="10178"/>
            <a:ext cx="449979" cy="599422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0C3FB6-5C3E-3C06-9580-302A0EBEE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1E17F1-F2B2-4799-859A-A25FD4E780D8}" type="datetime1">
              <a:rPr lang="en-US" smtClean="0"/>
              <a:t>12/14/2025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FAC57D-5445-F8A9-C541-BB343C6D7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STRIDE PROJECT BATCH #: [ECE/A2], AY: 2025-26</a:t>
            </a:r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17577-CC78-E78F-C94E-42CE2DBE7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B9A183-571A-C088-FAB0-858C679B18B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9805" t="23350" r="75737" b="60985"/>
          <a:stretch/>
        </p:blipFill>
        <p:spPr bwMode="auto">
          <a:xfrm>
            <a:off x="11208042" y="10179"/>
            <a:ext cx="983957" cy="599422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4" name="Picture 2" descr="Thank You Images for PPT / Presentation - Thank You Quotes ...">
            <a:extLst>
              <a:ext uri="{FF2B5EF4-FFF2-40B4-BE49-F238E27FC236}">
                <a16:creationId xmlns:a16="http://schemas.microsoft.com/office/drawing/2014/main" id="{37CB8497-83FF-BEBF-596F-CFAE947210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8712" y="2724150"/>
            <a:ext cx="2314575" cy="140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452</TotalTime>
  <Words>483</Words>
  <Application>Microsoft Office PowerPoint</Application>
  <PresentationFormat>Widescreen</PresentationFormat>
  <Paragraphs>104</Paragraphs>
  <Slides>14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Arial</vt:lpstr>
      <vt:lpstr>Calibri</vt:lpstr>
      <vt:lpstr>Calibri Light</vt:lpstr>
      <vt:lpstr>Rockwell</vt:lpstr>
      <vt:lpstr>Times New Roman</vt:lpstr>
      <vt:lpstr>Twentieth Century</vt:lpstr>
      <vt:lpstr>Office Theme</vt:lpstr>
      <vt:lpstr>[STRIDE Project Title]</vt:lpstr>
      <vt:lpstr>CONTENTS:</vt:lpstr>
      <vt:lpstr>Problem Statement:</vt:lpstr>
      <vt:lpstr>Objectives</vt:lpstr>
      <vt:lpstr>Innovation and Uniqueness: (Explain what makes your idea unique and how it differs from existing solutions; 50-100 words)</vt:lpstr>
      <vt:lpstr>Literature Survey:</vt:lpstr>
      <vt:lpstr>Proposed Methodology</vt:lpstr>
      <vt:lpstr>System Architecture / Block Diagram</vt:lpstr>
      <vt:lpstr>Expected Outcomes</vt:lpstr>
      <vt:lpstr>Work Plan / Timeline</vt:lpstr>
      <vt:lpstr>Resources &amp; Risk Assessment</vt:lpstr>
      <vt:lpstr>Team Roles and Responsibilities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Zeroth Review Template</dc:title>
  <dc:creator>Dell;Prof. SJMR</dc:creator>
  <cp:lastModifiedBy>Dean Planning</cp:lastModifiedBy>
  <cp:revision>25</cp:revision>
  <dcterms:modified xsi:type="dcterms:W3CDTF">2025-12-14T17:12:12Z</dcterms:modified>
</cp:coreProperties>
</file>